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5" r:id="rId3"/>
    <p:sldId id="272" r:id="rId4"/>
    <p:sldId id="273" r:id="rId5"/>
    <p:sldId id="270" r:id="rId6"/>
    <p:sldId id="268" r:id="rId7"/>
    <p:sldId id="269" r:id="rId8"/>
    <p:sldId id="274" r:id="rId9"/>
    <p:sldId id="267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0" autoAdjust="0"/>
    <p:restoredTop sz="94721"/>
  </p:normalViewPr>
  <p:slideViewPr>
    <p:cSldViewPr snapToGrid="0">
      <p:cViewPr varScale="1">
        <p:scale>
          <a:sx n="78" d="100"/>
          <a:sy n="78" d="100"/>
        </p:scale>
        <p:origin x="1517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695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6566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85100C2-2920-FD28-A4F2-CBDBA1C0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30E087B-5576-5D05-6104-36AF4974E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DEDBF85-9383-7A46-DF22-F80A10C54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111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AB401F2-EBC3-940C-2987-A1152C97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E47EA17-A57C-9D00-7394-D7CB62A5E3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B72B606-E32A-B052-DF70-A101BDDAE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6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D996E69-60EF-4939-BF01-58EF1632B109}" type="datetime1">
              <a:rPr lang="en-US" smtClean="0"/>
              <a:t>2/28/2026</a:t>
            </a:fld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C39CA57-FA91-4F67-B0D9-BA0CD49B2E63}" type="datetime1">
              <a:rPr lang="en-US" smtClean="0"/>
              <a:t>2/28/2026</a:t>
            </a:fld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8133A36-3EA5-4EF1-B25F-8B7A1A8792BE}" type="datetime1">
              <a:rPr lang="en-US" smtClean="0"/>
              <a:t>2/28/2026</a:t>
            </a:fld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3ADF0C8-18DD-4568-80BE-78506FA164AB}" type="datetime1">
              <a:rPr lang="en-US" smtClean="0"/>
              <a:t>2/28/2026</a:t>
            </a:fld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83A63A0-8526-42B1-86B7-7CD2C5CB2E00}" type="datetime1">
              <a:rPr lang="en-US" smtClean="0"/>
              <a:t>2/28/2026</a:t>
            </a:fld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B9785BB-1417-4BDB-858D-ED8699762F95}" type="datetime1">
              <a:rPr lang="en-US" smtClean="0"/>
              <a:t>2/28/2026</a:t>
            </a:fld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91EC492-0646-4966-933B-FE1316A2FD5D}" type="datetime1">
              <a:rPr lang="en-US" smtClean="0"/>
              <a:t>2/28/2026</a:t>
            </a:fld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22F41EC-C993-4221-B0A9-E5CCE22CDE5F}" type="datetime1">
              <a:rPr lang="en-US" smtClean="0"/>
              <a:t>2/28/2026</a:t>
            </a:fld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7A4D957-7FB2-4490-8788-BCF8C5AFA17C}" type="datetime1">
              <a:rPr lang="en-US" smtClean="0"/>
              <a:t>2/28/2026</a:t>
            </a:fld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5123B98-F279-4B62-8297-25263C06E6B7}" type="datetime1">
              <a:rPr lang="en-US" smtClean="0"/>
              <a:t>2/28/2026</a:t>
            </a:fld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0B992BA-B1F7-417F-89E1-9334E37A24F5}" type="datetime1">
              <a:rPr lang="en-US" smtClean="0"/>
              <a:t>2/28/2026</a:t>
            </a:fld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F036897B-7550-4589-945E-64C057AFD471}" type="datetime1">
              <a:rPr lang="en-US" smtClean="0"/>
              <a:t>2/28/2026</a:t>
            </a:fld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84765" y="22675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4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Shelf-Level Inventory Monitoring System</a:t>
            </a: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648254" y="4539118"/>
            <a:ext cx="4495746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spcBef>
                <a:spcPts val="0"/>
              </a:spcBef>
              <a:buSzPct val="100000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Satwick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RA2311056010314</a:t>
            </a:r>
          </a:p>
          <a:p>
            <a:pPr marL="0" indent="0">
              <a:spcBef>
                <a:spcPts val="0"/>
              </a:spcBef>
              <a:buSzPct val="100000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Durga Sai Gorantla- RA2311050010028</a:t>
            </a:r>
          </a:p>
          <a:p>
            <a:pPr marL="0" indent="0">
              <a:spcBef>
                <a:spcPts val="0"/>
              </a:spcBef>
              <a:buSzPct val="100000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Venkateswarlu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RA2311050010029</a:t>
            </a:r>
          </a:p>
          <a:p>
            <a:pPr marL="0" indent="0">
              <a:spcBef>
                <a:spcPts val="0"/>
              </a:spcBef>
              <a:buSzPct val="100000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Business Systems</a:t>
            </a:r>
          </a:p>
          <a:p>
            <a:pPr marL="0" indent="0">
              <a:spcBef>
                <a:spcPts val="0"/>
              </a:spcBef>
              <a:buSzPct val="100000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92"/>
              </a:spcBef>
              <a:buSzPct val="100000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735931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2153307" y="553353"/>
            <a:ext cx="651033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BUSINESS SYSTEMS </a:t>
            </a: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MINOR PROJECT – First Review</a:t>
            </a: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395991" y="4361089"/>
            <a:ext cx="3787235" cy="1943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Panel head name: Dr T Karthick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Associate Professor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DSBS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66A9E-6474-159F-215F-24C4DB6B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A46D-A882-0BB6-8BBC-B05A99FD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16356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Statement</a:t>
            </a:r>
            <a:endParaRPr lang="en-IN" sz="3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E42D9-000D-8439-9B0B-B2C74DB3FC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7" name="Google Shape;98;p2">
            <a:extLst>
              <a:ext uri="{FF2B5EF4-FFF2-40B4-BE49-F238E27FC236}">
                <a16:creationId xmlns:a16="http://schemas.microsoft.com/office/drawing/2014/main" id="{A2FD0E75-9024-248F-EE49-A55439A8B3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1168" y="553151"/>
            <a:ext cx="1901952" cy="59899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2F47B601-77CF-3FDF-852D-12B648460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1168" y="2396908"/>
            <a:ext cx="8146606" cy="666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E9028BC-7243-4301-6647-033657E97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67787"/>
            <a:ext cx="825398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Supermarkets face frequent issues of out-of-stock, misplaced, and unnoticed missing products on shelves.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monitoring is mostly manual or sales-data based, which is reactive and does not reflect real-time shelf conditions.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of stock issues leads to lost sales, customer dissatisfaction, and increased operational costs.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automated solutions (RFID, smart shelves) are expensive and difficult to implement, especially for small and medium retailers.</a:t>
            </a:r>
          </a:p>
        </p:txBody>
      </p:sp>
    </p:spTree>
    <p:extLst>
      <p:ext uri="{BB962C8B-B14F-4D97-AF65-F5344CB8AC3E}">
        <p14:creationId xmlns:p14="http://schemas.microsoft.com/office/powerpoint/2010/main" val="37892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F381-F18F-F209-C31A-563A3CC4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6F14-0313-551D-F4AC-C0379F31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31792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IN" sz="3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4D925-71A7-8E56-F61E-8A9B51627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7" name="Google Shape;98;p2">
            <a:extLst>
              <a:ext uri="{FF2B5EF4-FFF2-40B4-BE49-F238E27FC236}">
                <a16:creationId xmlns:a16="http://schemas.microsoft.com/office/drawing/2014/main" id="{491C1916-B14A-F82C-380D-E6AAED8A45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1168" y="553151"/>
            <a:ext cx="2011680" cy="6172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2A9AC56-E0DD-47C5-EDF1-C53286420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0555" y="1769023"/>
            <a:ext cx="842624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inventory management is a critical operational challenge in supermarkets and grocery stores.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rely on manual shelf checks or point-of-sale (POS) data, which do not provide real-time shelf visibility.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supermarkets already have CCTV cameras installed, but they are primarily used for security purposes.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Artificial Intelligence and Computer Vision (e.g., YOLOv8) enable real-time object detection from video streams.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an opportunity to transform existing CCTV infrastructure into an intelligent shelf-level inventory monitoring system.</a:t>
            </a:r>
          </a:p>
        </p:txBody>
      </p:sp>
    </p:spTree>
    <p:extLst>
      <p:ext uri="{BB962C8B-B14F-4D97-AF65-F5344CB8AC3E}">
        <p14:creationId xmlns:p14="http://schemas.microsoft.com/office/powerpoint/2010/main" val="364906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E901-010E-A280-808C-BA5CEAB8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155E-271B-5DCB-01C5-DA95A8B0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31792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itchFamily="18" charset="0"/>
              </a:rPr>
              <a:t>LITERATURE SURVEY</a:t>
            </a:r>
            <a:endParaRPr lang="en-IN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D4157-C97B-539F-3362-9AA5C7462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7" name="Google Shape;98;p2">
            <a:extLst>
              <a:ext uri="{FF2B5EF4-FFF2-40B4-BE49-F238E27FC236}">
                <a16:creationId xmlns:a16="http://schemas.microsoft.com/office/drawing/2014/main" id="{D557803F-61F3-6A01-47E5-A521ADF67E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736" y="342265"/>
            <a:ext cx="2237740" cy="7550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D27CB9-627C-5748-7967-ACD414442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279801"/>
              </p:ext>
            </p:extLst>
          </p:nvPr>
        </p:nvGraphicFramePr>
        <p:xfrm>
          <a:off x="340195" y="1252945"/>
          <a:ext cx="8463609" cy="5311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6625">
                  <a:extLst>
                    <a:ext uri="{9D8B030D-6E8A-4147-A177-3AD203B41FA5}">
                      <a16:colId xmlns:a16="http://schemas.microsoft.com/office/drawing/2014/main" val="1372043741"/>
                    </a:ext>
                  </a:extLst>
                </a:gridCol>
                <a:gridCol w="2019049">
                  <a:extLst>
                    <a:ext uri="{9D8B030D-6E8A-4147-A177-3AD203B41FA5}">
                      <a16:colId xmlns:a16="http://schemas.microsoft.com/office/drawing/2014/main" val="1775854263"/>
                    </a:ext>
                  </a:extLst>
                </a:gridCol>
                <a:gridCol w="3136188">
                  <a:extLst>
                    <a:ext uri="{9D8B030D-6E8A-4147-A177-3AD203B41FA5}">
                      <a16:colId xmlns:a16="http://schemas.microsoft.com/office/drawing/2014/main" val="3151586102"/>
                    </a:ext>
                  </a:extLst>
                </a:gridCol>
                <a:gridCol w="2541747">
                  <a:extLst>
                    <a:ext uri="{9D8B030D-6E8A-4147-A177-3AD203B41FA5}">
                      <a16:colId xmlns:a16="http://schemas.microsoft.com/office/drawing/2014/main" val="312440128"/>
                    </a:ext>
                  </a:extLst>
                </a:gridCol>
              </a:tblGrid>
              <a:tr h="2783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No.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Limitations/Gaps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80826"/>
                  </a:ext>
                </a:extLst>
              </a:tr>
              <a:tr h="1586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IEEE (Doc ID: 8963979)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Vision-based retail shelf monitoring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Static cameras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Classical CNN-based object detection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Shelf region segmentation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Offline image processing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Not real-time (batch processing)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Limited scalability across multiple aisles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No integration with backend inventory systems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Assumes fixed product placement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615767"/>
                  </a:ext>
                </a:extLst>
              </a:tr>
              <a:tr h="937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IEEE (Doc ID: 10253237)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Smart retail vision systems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Deep learning with multi-camera fusion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Cloud-based processing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High-end hardware dependency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Expensive deployment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Cloud latency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Not suitable for small/medium supermarkets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530887"/>
                  </a:ext>
                </a:extLst>
              </a:tr>
              <a:tr h="994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IEEE (Doc ID: 9573939)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Shelf stock monitoring via deep learning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CNN feature extraction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Shelf emptiness detection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Binary stock/not-stock classification</a:t>
                      </a: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IN" sz="1200" dirty="0"/>
                        <a:t>No product-level identification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IN" sz="1200" dirty="0"/>
                        <a:t>No quantity estimation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IN" sz="1200" dirty="0"/>
                        <a:t>No POS/inventory linkage</a:t>
                      </a: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084992"/>
                  </a:ext>
                </a:extLst>
              </a:tr>
              <a:tr h="141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ResearchGate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Real-Time Retail Shelf-Stock Detection with YOLOv7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YOLOv7 for object detection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Real-time inference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Shelf stock presence detection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Accuracy-focused evaluation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Detects presence, not </a:t>
                      </a:r>
                      <a:r>
                        <a:rPr lang="en-US" sz="1200" b="0" dirty="0"/>
                        <a:t>exact count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No inventory reconciliation logic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No alert mechanism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/>
                        <a:t>Focuses on detection, not operations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99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97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7813"/>
            <a:ext cx="7696200" cy="109220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charset="0"/>
                <a:ea typeface="Times New Roman" charset="0"/>
                <a:cs typeface="Times New Roman" charset="0"/>
              </a:rPr>
              <a:t>Proposed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mtClean="0"/>
              <a:t>5</a:t>
            </a:fld>
            <a:endParaRPr lang="uk-UA"/>
          </a:p>
        </p:txBody>
      </p:sp>
      <p:pic>
        <p:nvPicPr>
          <p:cNvPr id="6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452278"/>
            <a:ext cx="2237740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EB01DE-5914-CAEB-3037-DA3509689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416" y="1370013"/>
            <a:ext cx="6935168" cy="503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9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ED64BFC-90CA-37C4-DC63-9079D6CFB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241A7234-9D94-5AF5-B811-DC16BA2ED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044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  <a:endParaRPr sz="30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2239D695-54D9-CFE1-F10C-799D712072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300" y="418549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C41055F-C4C3-5E66-8786-897671A37D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88A58F-352E-48AF-9FD7-87EBD337D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96940"/>
            <a:ext cx="77724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or misplaced products on shelves directly result in lost revenue and poor customer experience.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inventory checking is time-consuming, labor-intensive, and prone to human error.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and medium retailers cannot afford expensive smart shelf or RFID-based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CCTV cameras are underutilized and can be converted into intelligent monitoring tools using AI.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AI for real-time shelf monitoring can make retail operations smarter, faster, and more efficient.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2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B6264CF-5386-9BD1-1CF7-CE8CDA05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ED4E3FBC-2CB3-77AB-F3EB-0778B44AC6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2696"/>
            <a:ext cx="8686800" cy="760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with Sustainable Development </a:t>
            </a:r>
            <a:b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(SDGs)</a:t>
            </a:r>
            <a:endParaRPr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A2BF489-3D76-06BE-0A6F-FE310EE25C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99C480-32FA-CCBD-64B7-3407F0185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7118" y="1917510"/>
            <a:ext cx="81269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SDG 9 – Industry, Innovation and Infrastructure</a:t>
            </a:r>
          </a:p>
          <a:p>
            <a:pPr marL="114300" indent="0">
              <a:buNone/>
            </a:pPr>
            <a:r>
              <a:rPr lang="en-US" sz="2000" dirty="0"/>
              <a:t>	Promotes modernization of retail infrastructure by integrating AI-driven smart inventory monitoring systems.</a:t>
            </a:r>
          </a:p>
          <a:p>
            <a:pPr marL="114300" indent="0">
              <a:buNone/>
            </a:pPr>
            <a:endParaRPr lang="en-US" sz="20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8;p2">
            <a:extLst>
              <a:ext uri="{FF2B5EF4-FFF2-40B4-BE49-F238E27FC236}">
                <a16:creationId xmlns:a16="http://schemas.microsoft.com/office/drawing/2014/main" id="{D08F20C2-123E-6A8E-4E5F-BDA84ABF61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716" y="418549"/>
            <a:ext cx="2008124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Sustainable Development Goal 9 - Wikipedia">
            <a:extLst>
              <a:ext uri="{FF2B5EF4-FFF2-40B4-BE49-F238E27FC236}">
                <a16:creationId xmlns:a16="http://schemas.microsoft.com/office/drawing/2014/main" id="{009DA6E2-E92B-C985-1F95-CF6D4E310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579" y="4511619"/>
            <a:ext cx="1883664" cy="188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06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818D-9EBE-8069-0179-CB3F1982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3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DBA1F-EA23-AE71-4936-D31221E8FC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12" name="Google Shape;98;p2">
            <a:extLst>
              <a:ext uri="{FF2B5EF4-FFF2-40B4-BE49-F238E27FC236}">
                <a16:creationId xmlns:a16="http://schemas.microsoft.com/office/drawing/2014/main" id="{1F19028D-1732-9BE9-753B-A85F4C52E7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2608" y="468630"/>
            <a:ext cx="201315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8E3FB40A-F2CC-BA0A-3A8E-155400D36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3192" y="1970664"/>
            <a:ext cx="8165592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IEEE (Doc ID: 8963979). Vision-Based Retail Shelf Monitoring.</a:t>
            </a:r>
          </a:p>
          <a:p>
            <a:pPr marL="114300" indent="0">
              <a:buNone/>
            </a:pPr>
            <a:r>
              <a:rPr lang="en-IN" sz="1600" dirty="0"/>
              <a:t>	https://ieeexplore.ieee.org/document/8963979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IEEE (Doc ID: 10253237). Smart Retail Vision Systems.</a:t>
            </a:r>
          </a:p>
          <a:p>
            <a:pPr marL="114300" indent="0">
              <a:buNone/>
            </a:pPr>
            <a:r>
              <a:rPr lang="en-IN" sz="1600" dirty="0"/>
              <a:t>	https://ieeexplore.ieee.org/document/10253237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IEEE (Doc ID: 9573939). Shelf Stock Monitoring via Deep Learning.</a:t>
            </a:r>
          </a:p>
          <a:p>
            <a:pPr marL="114300" indent="0">
              <a:buNone/>
            </a:pPr>
            <a:r>
              <a:rPr lang="en-IN" sz="1600" dirty="0"/>
              <a:t>	https://ieeexplore.ieee.org/document/9573939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Real-Time Retail Shelf-Stock Detection with YOLOv7. ResearchGate.</a:t>
            </a:r>
          </a:p>
          <a:p>
            <a:pPr marL="114300" indent="0">
              <a:buNone/>
            </a:pPr>
            <a:r>
              <a:rPr lang="en-IN" sz="1600" dirty="0"/>
              <a:t>	https://www.researchgate.net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Redmon, J., &amp; Farhadi, A. (2018). YOLOv3: An Incremental Improvement.</a:t>
            </a:r>
          </a:p>
          <a:p>
            <a:pPr marL="114300" indent="0">
              <a:buNone/>
            </a:pPr>
            <a:r>
              <a:rPr lang="en-IN" sz="1600" dirty="0"/>
              <a:t>	https://arxiv.org/abs/1804.02767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 err="1"/>
              <a:t>Jocher</a:t>
            </a:r>
            <a:r>
              <a:rPr lang="en-IN" sz="1600" dirty="0"/>
              <a:t>, G., et al. (2023). </a:t>
            </a:r>
            <a:r>
              <a:rPr lang="en-IN" sz="1600" dirty="0" err="1"/>
              <a:t>Ultralytics</a:t>
            </a:r>
            <a:r>
              <a:rPr lang="en-IN" sz="1600" dirty="0"/>
              <a:t> YOLOv8.</a:t>
            </a:r>
          </a:p>
          <a:p>
            <a:pPr marL="114300" indent="0">
              <a:buNone/>
            </a:pPr>
            <a:r>
              <a:rPr lang="en-IN" sz="1600" dirty="0"/>
              <a:t>	https://github.com/ultralytics/ultralytics</a:t>
            </a:r>
          </a:p>
        </p:txBody>
      </p:sp>
    </p:spTree>
    <p:extLst>
      <p:ext uri="{BB962C8B-B14F-4D97-AF65-F5344CB8AC3E}">
        <p14:creationId xmlns:p14="http://schemas.microsoft.com/office/powerpoint/2010/main" val="214768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704571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7" name="Google Shape;9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600" y="553353"/>
            <a:ext cx="2237740" cy="755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1193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669</Words>
  <Application>Microsoft Office PowerPoint</Application>
  <PresentationFormat>On-screen Show (4:3)</PresentationFormat>
  <Paragraphs>114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Theme</vt:lpstr>
      <vt:lpstr>AI Based Shelf-Level Inventory Monitoring System</vt:lpstr>
      <vt:lpstr> Problem Statement</vt:lpstr>
      <vt:lpstr> Introduction / Background</vt:lpstr>
      <vt:lpstr>LITERATURE SURVEY</vt:lpstr>
      <vt:lpstr>Proposed Methodology</vt:lpstr>
      <vt:lpstr>Motivation </vt:lpstr>
      <vt:lpstr>                  Aligned with Sustainable Development  Goals (SDGs)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DURGA SAI GORANTLA (RA2311050010028)</cp:lastModifiedBy>
  <cp:revision>42</cp:revision>
  <dcterms:created xsi:type="dcterms:W3CDTF">2020-05-13T07:00:09Z</dcterms:created>
  <dcterms:modified xsi:type="dcterms:W3CDTF">2026-02-27T21:18:25Z</dcterms:modified>
</cp:coreProperties>
</file>